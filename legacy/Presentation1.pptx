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61" r:id="rId5"/>
    <p:sldId id="262" r:id="rId6"/>
    <p:sldId id="259" r:id="rId7"/>
    <p:sldId id="260" r:id="rId8"/>
    <p:sldId id="257" r:id="rId9"/>
    <p:sldId id="258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20"/>
        <p:guide pos="3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29.xml"/><Relationship Id="rId6" Type="http://schemas.openxmlformats.org/officeDocument/2006/relationships/image" Target="../media/image2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56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/>
          <p:nvPr/>
        </p:nvGraphicFramePr>
        <p:xfrm>
          <a:off x="4533900" y="3482975"/>
          <a:ext cx="576072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4533900" y="3081655"/>
          <a:ext cx="4114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4027170" y="3482975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2302510" y="3482975"/>
          <a:ext cx="1371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1817370" y="3482975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4533900" y="1359535"/>
          <a:ext cx="41148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4540250" y="2496820"/>
          <a:ext cx="4114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/>
          <p:nvPr/>
        </p:nvGraphicFramePr>
        <p:xfrm>
          <a:off x="2302510" y="3072765"/>
          <a:ext cx="1371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4039235" y="1359535"/>
          <a:ext cx="457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Left Bracket 18"/>
          <p:cNvSpPr/>
          <p:nvPr/>
        </p:nvSpPr>
        <p:spPr>
          <a:xfrm flipH="1">
            <a:off x="8708390" y="2608580"/>
            <a:ext cx="231140" cy="682625"/>
          </a:xfrm>
          <a:prstGeom prst="leftBracket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Left Bracket 19"/>
          <p:cNvSpPr/>
          <p:nvPr>
            <p:custDataLst>
              <p:tags r:id="rId1"/>
            </p:custDataLst>
          </p:nvPr>
        </p:nvSpPr>
        <p:spPr>
          <a:xfrm rot="5400000" flipH="1">
            <a:off x="3039745" y="4740910"/>
            <a:ext cx="168910" cy="2237740"/>
          </a:xfrm>
          <a:prstGeom prst="leftBracket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0" name="Picture 29" descr="Screen Shot 2024-07-15 at 5.36.34 PM"/>
          <p:cNvPicPr>
            <a:picLocks noChangeAspect="1"/>
          </p:cNvPicPr>
          <p:nvPr/>
        </p:nvPicPr>
        <p:blipFill>
          <a:blip r:embed="rId2"/>
          <a:srcRect l="18631" t="8129" r="22715" b="10346"/>
          <a:stretch>
            <a:fillRect/>
          </a:stretch>
        </p:blipFill>
        <p:spPr>
          <a:xfrm>
            <a:off x="3072130" y="5767070"/>
            <a:ext cx="262255" cy="365760"/>
          </a:xfrm>
          <a:prstGeom prst="rect">
            <a:avLst/>
          </a:prstGeom>
        </p:spPr>
      </p:pic>
      <p:pic>
        <p:nvPicPr>
          <p:cNvPr id="32" name="Picture 31" descr="Screen Shot 2024-07-15 at 5.36.34 PM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l="18631" t="8129" r="22715" b="10346"/>
          <a:stretch>
            <a:fillRect/>
          </a:stretch>
        </p:blipFill>
        <p:spPr>
          <a:xfrm>
            <a:off x="8827770" y="2787015"/>
            <a:ext cx="224790" cy="312420"/>
          </a:xfrm>
          <a:prstGeom prst="rect">
            <a:avLst/>
          </a:prstGeom>
        </p:spPr>
      </p:pic>
      <p:sp>
        <p:nvSpPr>
          <p:cNvPr id="33" name="Text Box 32"/>
          <p:cNvSpPr txBox="1"/>
          <p:nvPr/>
        </p:nvSpPr>
        <p:spPr>
          <a:xfrm>
            <a:off x="5578475" y="4248150"/>
            <a:ext cx="1915160" cy="36830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p>
            <a:r>
              <a:rPr lang="en-US"/>
              <a:t>Values DataFrame</a:t>
            </a:r>
            <a:endParaRPr lang="en-US"/>
          </a:p>
        </p:txBody>
      </p:sp>
      <p:sp>
        <p:nvSpPr>
          <p:cNvPr id="34" name="Text Box 33"/>
          <p:cNvSpPr txBox="1"/>
          <p:nvPr>
            <p:custDataLst>
              <p:tags r:id="rId4"/>
            </p:custDataLst>
          </p:nvPr>
        </p:nvSpPr>
        <p:spPr>
          <a:xfrm>
            <a:off x="2362200" y="4117975"/>
            <a:ext cx="1231900" cy="64516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/>
              <a:t>Index</a:t>
            </a:r>
            <a:endParaRPr lang="en-US"/>
          </a:p>
          <a:p>
            <a:pPr algn="ctr"/>
            <a:r>
              <a:rPr lang="en-US"/>
              <a:t>DataFrame</a:t>
            </a:r>
            <a:endParaRPr lang="en-US"/>
          </a:p>
        </p:txBody>
      </p:sp>
      <p:sp>
        <p:nvSpPr>
          <p:cNvPr id="35" name="Text Box 34"/>
          <p:cNvSpPr txBox="1"/>
          <p:nvPr>
            <p:custDataLst>
              <p:tags r:id="rId5"/>
            </p:custDataLst>
          </p:nvPr>
        </p:nvSpPr>
        <p:spPr>
          <a:xfrm>
            <a:off x="5498465" y="1718945"/>
            <a:ext cx="2237105" cy="409575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noAutofit/>
          </a:bodyPr>
          <a:p>
            <a:r>
              <a:rPr lang="en-US"/>
              <a:t>Columns DataFrame</a:t>
            </a:r>
            <a:endParaRPr lang="en-US"/>
          </a:p>
        </p:txBody>
      </p:sp>
      <p:sp>
        <p:nvSpPr>
          <p:cNvPr id="36" name="Text Box 35"/>
          <p:cNvSpPr txBox="1"/>
          <p:nvPr>
            <p:custDataLst>
              <p:tags r:id="rId6"/>
            </p:custDataLst>
          </p:nvPr>
        </p:nvSpPr>
        <p:spPr>
          <a:xfrm>
            <a:off x="9126855" y="2596515"/>
            <a:ext cx="2237105" cy="409575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noAutofit/>
          </a:bodyPr>
          <a:p>
            <a:r>
              <a:rPr lang="en-US"/>
              <a:t>Primary</a:t>
            </a:r>
            <a:endParaRPr lang="en-US"/>
          </a:p>
          <a:p>
            <a:r>
              <a:rPr lang="en-US"/>
              <a:t>Columns</a:t>
            </a:r>
            <a:endParaRPr lang="en-US"/>
          </a:p>
        </p:txBody>
      </p:sp>
      <p:sp>
        <p:nvSpPr>
          <p:cNvPr id="37" name="Text Box 36"/>
          <p:cNvSpPr txBox="1"/>
          <p:nvPr>
            <p:custDataLst>
              <p:tags r:id="rId7"/>
            </p:custDataLst>
          </p:nvPr>
        </p:nvSpPr>
        <p:spPr>
          <a:xfrm>
            <a:off x="2422525" y="6129020"/>
            <a:ext cx="2115185" cy="409575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noAutofit/>
          </a:bodyPr>
          <a:p>
            <a:r>
              <a:rPr lang="en-US"/>
              <a:t>Primary Index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985645" y="1765935"/>
            <a:ext cx="1833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Mul</a:t>
            </a:r>
            <a:r>
              <a:rPr lang="en-US" sz="2000" b="1">
                <a:latin typeface="Calibri Bold" panose="020F0702030404030204" charset="0"/>
                <a:cs typeface="Calibri Bold" panose="020F0702030404030204" charset="0"/>
              </a:rPr>
              <a:t>DataFrame</a:t>
            </a:r>
            <a:endParaRPr lang="en-US" sz="2000" b="1">
              <a:latin typeface="Calibri Bold" panose="020F0702030404030204" charset="0"/>
              <a:cs typeface="Calibri Bold" panose="020F07020304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4211320" y="3806825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4223385" y="1644650"/>
          <a:ext cx="457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3"/>
            </p:custDataLst>
          </p:nvPr>
        </p:nvGraphicFramePr>
        <p:xfrm>
          <a:off x="3266440" y="3361055"/>
          <a:ext cx="1371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>
            <p:custDataLst>
              <p:tags r:id="rId4"/>
            </p:custDataLst>
          </p:nvPr>
        </p:nvGraphicFramePr>
        <p:xfrm>
          <a:off x="4724400" y="2781935"/>
          <a:ext cx="13735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5"/>
                <a:gridCol w="457835"/>
                <a:gridCol w="4578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/>
          <p:nvPr>
            <p:custDataLst>
              <p:tags r:id="rId5"/>
            </p:custDataLst>
          </p:nvPr>
        </p:nvGraphicFramePr>
        <p:xfrm>
          <a:off x="4724400" y="3374390"/>
          <a:ext cx="13735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5"/>
                <a:gridCol w="457835"/>
                <a:gridCol w="4578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>
            <p:custDataLst>
              <p:tags r:id="rId6"/>
            </p:custDataLst>
          </p:nvPr>
        </p:nvGraphicFramePr>
        <p:xfrm>
          <a:off x="2767330" y="3806825"/>
          <a:ext cx="457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5747385" y="3028950"/>
            <a:ext cx="1623060" cy="9277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Rectangles 3"/>
          <p:cNvSpPr/>
          <p:nvPr>
            <p:custDataLst>
              <p:tags r:id="rId1"/>
            </p:custDataLst>
          </p:nvPr>
        </p:nvSpPr>
        <p:spPr>
          <a:xfrm rot="5400000">
            <a:off x="4684395" y="4413885"/>
            <a:ext cx="1356995" cy="4641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Rectangles 4"/>
          <p:cNvSpPr/>
          <p:nvPr>
            <p:custDataLst>
              <p:tags r:id="rId2"/>
            </p:custDataLst>
          </p:nvPr>
        </p:nvSpPr>
        <p:spPr>
          <a:xfrm rot="10800000">
            <a:off x="4025900" y="3234690"/>
            <a:ext cx="1454785" cy="4641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" name="Rectangles 5"/>
          <p:cNvSpPr/>
          <p:nvPr>
            <p:custDataLst>
              <p:tags r:id="rId3"/>
            </p:custDataLst>
          </p:nvPr>
        </p:nvSpPr>
        <p:spPr>
          <a:xfrm rot="5400000">
            <a:off x="4899025" y="2294255"/>
            <a:ext cx="928370" cy="4635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Rectangles 8"/>
          <p:cNvSpPr/>
          <p:nvPr>
            <p:custDataLst>
              <p:tags r:id="rId4"/>
            </p:custDataLst>
          </p:nvPr>
        </p:nvSpPr>
        <p:spPr>
          <a:xfrm rot="5400000">
            <a:off x="3846830" y="4424680"/>
            <a:ext cx="1356995" cy="4641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4211320" y="3780790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4185285" y="1644650"/>
          <a:ext cx="457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3"/>
            </p:custDataLst>
          </p:nvPr>
        </p:nvGraphicFramePr>
        <p:xfrm>
          <a:off x="2832735" y="2871470"/>
          <a:ext cx="1371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>
            <p:custDataLst>
              <p:tags r:id="rId4"/>
            </p:custDataLst>
          </p:nvPr>
        </p:nvGraphicFramePr>
        <p:xfrm>
          <a:off x="4724400" y="2781935"/>
          <a:ext cx="13735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5"/>
                <a:gridCol w="457835"/>
                <a:gridCol w="4578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/>
          <p:nvPr>
            <p:custDataLst>
              <p:tags r:id="rId5"/>
            </p:custDataLst>
          </p:nvPr>
        </p:nvGraphicFramePr>
        <p:xfrm>
          <a:off x="4724400" y="3374390"/>
          <a:ext cx="13735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5"/>
                <a:gridCol w="457835"/>
                <a:gridCol w="4578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>
            <p:custDataLst>
              <p:tags r:id="rId6"/>
            </p:custDataLst>
          </p:nvPr>
        </p:nvGraphicFramePr>
        <p:xfrm>
          <a:off x="7769225" y="3374390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4" name="Picture 23" descr="Screen Shot 2024-11-01 at 5.08.34 PM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rot="2880000">
            <a:off x="3197225" y="3269615"/>
            <a:ext cx="6350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10"/>
          <p:cNvGraphicFramePr/>
          <p:nvPr>
            <p:custDataLst>
              <p:tags r:id="rId1"/>
            </p:custDataLst>
          </p:nvPr>
        </p:nvGraphicFramePr>
        <p:xfrm>
          <a:off x="4027170" y="3482975"/>
          <a:ext cx="4572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>
            <p:custDataLst>
              <p:tags r:id="rId2"/>
            </p:custDataLst>
          </p:nvPr>
        </p:nvGraphicFramePr>
        <p:xfrm>
          <a:off x="4039235" y="1359535"/>
          <a:ext cx="457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/>
          <p:nvPr>
            <p:custDataLst>
              <p:tags r:id="rId3"/>
            </p:custDataLst>
          </p:nvPr>
        </p:nvGraphicFramePr>
        <p:xfrm>
          <a:off x="2686685" y="2586355"/>
          <a:ext cx="1371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>
            <p:custDataLst>
              <p:tags r:id="rId4"/>
            </p:custDataLst>
          </p:nvPr>
        </p:nvGraphicFramePr>
        <p:xfrm>
          <a:off x="4540250" y="2496820"/>
          <a:ext cx="137350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5"/>
                <a:gridCol w="457835"/>
                <a:gridCol w="4578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creen Shot 2024-11-01 at 5.08.34 PM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2880000">
            <a:off x="3062605" y="2960370"/>
            <a:ext cx="635000" cy="1231900"/>
          </a:xfrm>
          <a:prstGeom prst="rect">
            <a:avLst/>
          </a:prstGeom>
        </p:spPr>
      </p:pic>
      <p:pic>
        <p:nvPicPr>
          <p:cNvPr id="6" name="Picture 5" descr="Screen Shot 2024-11-01 at 5.08.34 PM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 rot="17220000">
            <a:off x="4860290" y="2916555"/>
            <a:ext cx="6350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532890" y="1641475"/>
            <a:ext cx="1054735" cy="16300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7 6 5 3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1 2 1 2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3 5 8 7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>
            <p:custDataLst>
              <p:tags r:id="rId1"/>
            </p:custDataLst>
          </p:nvPr>
        </p:nvSpPr>
        <p:spPr>
          <a:xfrm>
            <a:off x="3923030" y="1217295"/>
            <a:ext cx="1054735" cy="8604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7 6 5 3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Text Box 6"/>
          <p:cNvSpPr txBox="1"/>
          <p:nvPr>
            <p:custDataLst>
              <p:tags r:id="rId2"/>
            </p:custDataLst>
          </p:nvPr>
        </p:nvSpPr>
        <p:spPr>
          <a:xfrm>
            <a:off x="3923030" y="2482850"/>
            <a:ext cx="1054735" cy="11169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>
                <a:latin typeface="Menlo" panose="020B0609030804020204"/>
                <a:ea typeface="Menlo" panose="020B0609030804020204"/>
                <a:sym typeface="+mn-ea"/>
              </a:rPr>
              <a:t>3 5 8 7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583180" y="2480945"/>
            <a:ext cx="889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61385" y="1941195"/>
            <a:ext cx="419735" cy="541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>
            <p:custDataLst>
              <p:tags r:id="rId3"/>
            </p:custDataLst>
          </p:nvPr>
        </p:nvCxnSpPr>
        <p:spPr>
          <a:xfrm>
            <a:off x="3454400" y="2476500"/>
            <a:ext cx="400685" cy="57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>
            <p:custDataLst>
              <p:tags r:id="rId4"/>
            </p:custDataLst>
          </p:nvPr>
        </p:nvCxnSpPr>
        <p:spPr>
          <a:xfrm>
            <a:off x="4870450" y="1786255"/>
            <a:ext cx="7594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>
            <p:custDataLst>
              <p:tags r:id="rId5"/>
            </p:custDataLst>
          </p:nvPr>
        </p:nvSpPr>
        <p:spPr>
          <a:xfrm>
            <a:off x="5751830" y="1192530"/>
            <a:ext cx="1054735" cy="8604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7 6 5 3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Text Box 12"/>
          <p:cNvSpPr txBox="1"/>
          <p:nvPr>
            <p:custDataLst>
              <p:tags r:id="rId6"/>
            </p:custDataLst>
          </p:nvPr>
        </p:nvSpPr>
        <p:spPr>
          <a:xfrm>
            <a:off x="5780405" y="2717800"/>
            <a:ext cx="1054735" cy="9461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cxnSp>
        <p:nvCxnSpPr>
          <p:cNvPr id="14" name="Straight Arrow Connector 13"/>
          <p:cNvCxnSpPr/>
          <p:nvPr>
            <p:custDataLst>
              <p:tags r:id="rId7"/>
            </p:custDataLst>
          </p:nvPr>
        </p:nvCxnSpPr>
        <p:spPr>
          <a:xfrm>
            <a:off x="4879340" y="3271520"/>
            <a:ext cx="7594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835140" y="1732280"/>
            <a:ext cx="697230" cy="664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>
            <p:custDataLst>
              <p:tags r:id="rId8"/>
            </p:custDataLst>
          </p:nvPr>
        </p:nvCxnSpPr>
        <p:spPr>
          <a:xfrm flipV="1">
            <a:off x="6692265" y="2400935"/>
            <a:ext cx="844550" cy="870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529195" y="2399665"/>
            <a:ext cx="75247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>
            <p:custDataLst>
              <p:tags r:id="rId9"/>
            </p:custDataLst>
          </p:nvPr>
        </p:nvSpPr>
        <p:spPr>
          <a:xfrm>
            <a:off x="8533765" y="1688465"/>
            <a:ext cx="1054735" cy="11169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7 6 5 3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69645" y="2466340"/>
            <a:ext cx="669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df  =</a:t>
            </a:r>
            <a:endParaRPr lang="en-US"/>
          </a:p>
        </p:txBody>
      </p:sp>
      <p:sp>
        <p:nvSpPr>
          <p:cNvPr id="23" name="Text Box 22"/>
          <p:cNvSpPr txBox="1"/>
          <p:nvPr>
            <p:custDataLst>
              <p:tags r:id="rId10"/>
            </p:custDataLst>
          </p:nvPr>
        </p:nvSpPr>
        <p:spPr>
          <a:xfrm>
            <a:off x="988695" y="3295650"/>
            <a:ext cx="20574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/>
              <a:t>(idx  = pd.IndexSlice)</a:t>
            </a:r>
            <a:endParaRPr lang="en-US" sz="1600"/>
          </a:p>
        </p:txBody>
      </p:sp>
      <p:sp>
        <p:nvSpPr>
          <p:cNvPr id="25" name="Text Box 24"/>
          <p:cNvSpPr txBox="1"/>
          <p:nvPr/>
        </p:nvSpPr>
        <p:spPr>
          <a:xfrm>
            <a:off x="2413635" y="201168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df.loc[idx[[7,3],6]]</a:t>
            </a:r>
            <a:endParaRPr lang="en-US" sz="1200"/>
          </a:p>
        </p:txBody>
      </p:sp>
      <p:sp>
        <p:nvSpPr>
          <p:cNvPr id="26" name="Rectangles 25"/>
          <p:cNvSpPr/>
          <p:nvPr/>
        </p:nvSpPr>
        <p:spPr>
          <a:xfrm>
            <a:off x="3112135" y="2023110"/>
            <a:ext cx="29273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>
            <p:custDataLst>
              <p:tags r:id="rId11"/>
            </p:custDataLst>
          </p:nvPr>
        </p:nvSpPr>
        <p:spPr>
          <a:xfrm>
            <a:off x="4666615" y="224536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df.loc[idx[[7,3],6]]</a:t>
            </a:r>
            <a:endParaRPr lang="en-US" sz="1200"/>
          </a:p>
        </p:txBody>
      </p:sp>
      <p:sp>
        <p:nvSpPr>
          <p:cNvPr id="28" name="Rectangles 27"/>
          <p:cNvSpPr/>
          <p:nvPr>
            <p:custDataLst>
              <p:tags r:id="rId12"/>
            </p:custDataLst>
          </p:nvPr>
        </p:nvSpPr>
        <p:spPr>
          <a:xfrm>
            <a:off x="5665470" y="2237740"/>
            <a:ext cx="13779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7640955" y="2131060"/>
            <a:ext cx="6692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concat</a:t>
            </a:r>
            <a:endParaRPr lang="en-US" sz="1000"/>
          </a:p>
        </p:txBody>
      </p:sp>
      <p:sp>
        <p:nvSpPr>
          <p:cNvPr id="30" name="Text Box 29"/>
          <p:cNvSpPr txBox="1"/>
          <p:nvPr>
            <p:custDataLst>
              <p:tags r:id="rId13"/>
            </p:custDataLst>
          </p:nvPr>
        </p:nvSpPr>
        <p:spPr>
          <a:xfrm>
            <a:off x="1590675" y="4301490"/>
            <a:ext cx="1725295" cy="18865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a 7 6 a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b 1 2 b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 3 5 d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2" name="Text Box 31"/>
          <p:cNvSpPr txBox="1"/>
          <p:nvPr>
            <p:custDataLst>
              <p:tags r:id="rId14"/>
            </p:custDataLst>
          </p:nvPr>
        </p:nvSpPr>
        <p:spPr>
          <a:xfrm>
            <a:off x="1043305" y="5309235"/>
            <a:ext cx="669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mf  =</a:t>
            </a:r>
            <a:endParaRPr lang="en-US"/>
          </a:p>
        </p:txBody>
      </p:sp>
      <p:cxnSp>
        <p:nvCxnSpPr>
          <p:cNvPr id="33" name="Straight Arrow Connector 32"/>
          <p:cNvCxnSpPr/>
          <p:nvPr>
            <p:custDataLst>
              <p:tags r:id="rId15"/>
            </p:custDataLst>
          </p:nvPr>
        </p:nvCxnSpPr>
        <p:spPr>
          <a:xfrm>
            <a:off x="2983230" y="5493385"/>
            <a:ext cx="1597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>
            <p:custDataLst>
              <p:tags r:id="rId16"/>
            </p:custDataLst>
          </p:nvPr>
        </p:nvSpPr>
        <p:spPr>
          <a:xfrm>
            <a:off x="3172460" y="520446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mf.mloc[[[7,3],6]]</a:t>
            </a:r>
            <a:endParaRPr lang="en-US" sz="1200"/>
          </a:p>
        </p:txBody>
      </p:sp>
      <p:sp>
        <p:nvSpPr>
          <p:cNvPr id="35" name="Text Box 34"/>
          <p:cNvSpPr txBox="1"/>
          <p:nvPr>
            <p:custDataLst>
              <p:tags r:id="rId17"/>
            </p:custDataLst>
          </p:nvPr>
        </p:nvSpPr>
        <p:spPr>
          <a:xfrm>
            <a:off x="4776470" y="4464685"/>
            <a:ext cx="1725295" cy="16300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a 7 6 a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>
                <a:latin typeface="Menlo" panose="020B0609030804020204"/>
                <a:ea typeface="Menlo" panose="020B0609030804020204"/>
                <a:sym typeface="+mn-ea"/>
              </a:rPr>
              <a:t>d 3 5 d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6" name="Text Box 35"/>
          <p:cNvSpPr txBox="1"/>
          <p:nvPr>
            <p:custDataLst>
              <p:tags r:id="rId18"/>
            </p:custDataLst>
          </p:nvPr>
        </p:nvSpPr>
        <p:spPr>
          <a:xfrm>
            <a:off x="6322060" y="519049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mf.mloc[[[7,3],6]]</a:t>
            </a:r>
            <a:endParaRPr lang="en-US" sz="1200"/>
          </a:p>
        </p:txBody>
      </p:sp>
      <p:cxnSp>
        <p:nvCxnSpPr>
          <p:cNvPr id="37" name="Straight Arrow Connector 36"/>
          <p:cNvCxnSpPr/>
          <p:nvPr>
            <p:custDataLst>
              <p:tags r:id="rId19"/>
            </p:custDataLst>
          </p:nvPr>
        </p:nvCxnSpPr>
        <p:spPr>
          <a:xfrm>
            <a:off x="6189980" y="5474335"/>
            <a:ext cx="1597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>
            <p:custDataLst>
              <p:tags r:id="rId20"/>
            </p:custDataLst>
          </p:nvPr>
        </p:nvSpPr>
        <p:spPr>
          <a:xfrm>
            <a:off x="7962265" y="4569460"/>
            <a:ext cx="1725295" cy="16300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a 7 6 a 5 3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9" name="Rectangles 38"/>
          <p:cNvSpPr/>
          <p:nvPr>
            <p:custDataLst>
              <p:tags r:id="rId21"/>
            </p:custDataLst>
          </p:nvPr>
        </p:nvSpPr>
        <p:spPr>
          <a:xfrm>
            <a:off x="3851910" y="5204460"/>
            <a:ext cx="29273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s 40"/>
          <p:cNvSpPr/>
          <p:nvPr>
            <p:custDataLst>
              <p:tags r:id="rId22"/>
            </p:custDataLst>
          </p:nvPr>
        </p:nvSpPr>
        <p:spPr>
          <a:xfrm>
            <a:off x="7305040" y="5180965"/>
            <a:ext cx="13779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237490" y="795020"/>
            <a:ext cx="1475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Example 1</a:t>
            </a:r>
            <a:endParaRPr lang="en-US"/>
          </a:p>
        </p:txBody>
      </p:sp>
      <p:sp>
        <p:nvSpPr>
          <p:cNvPr id="44" name="Text Box 43"/>
          <p:cNvSpPr txBox="1"/>
          <p:nvPr>
            <p:custDataLst>
              <p:tags r:id="rId23"/>
            </p:custDataLst>
          </p:nvPr>
        </p:nvSpPr>
        <p:spPr>
          <a:xfrm>
            <a:off x="348615" y="1417955"/>
            <a:ext cx="1475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i="1">
                <a:latin typeface="Calibri Italic" panose="020F0702030404030204" charset="0"/>
                <a:cs typeface="Calibri Italic" panose="020F0702030404030204" charset="0"/>
              </a:rPr>
              <a:t>Pandas</a:t>
            </a:r>
            <a:endParaRPr lang="en-US" sz="1600" i="1">
              <a:latin typeface="Calibri Italic" panose="020F0702030404030204" charset="0"/>
              <a:cs typeface="Calibri Italic" panose="020F0702030404030204" charset="0"/>
            </a:endParaRPr>
          </a:p>
        </p:txBody>
      </p:sp>
      <p:sp>
        <p:nvSpPr>
          <p:cNvPr id="45" name="Text Box 44"/>
          <p:cNvSpPr txBox="1"/>
          <p:nvPr>
            <p:custDataLst>
              <p:tags r:id="rId24"/>
            </p:custDataLst>
          </p:nvPr>
        </p:nvSpPr>
        <p:spPr>
          <a:xfrm>
            <a:off x="325120" y="3968115"/>
            <a:ext cx="17259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i="1">
                <a:latin typeface="Calibri Italic" panose="020F0702030404030204" charset="0"/>
                <a:cs typeface="Calibri Italic" panose="020F0702030404030204" charset="0"/>
              </a:rPr>
              <a:t>MulDataFrame</a:t>
            </a:r>
            <a:endParaRPr lang="en-US" sz="1600" i="1">
              <a:latin typeface="Calibri Italic" panose="020F0702030404030204" charset="0"/>
              <a:cs typeface="Calibri Italic" panose="020F07020304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>
            <p:custDataLst>
              <p:tags r:id="rId1"/>
            </p:custDataLst>
          </p:nvPr>
        </p:nvSpPr>
        <p:spPr>
          <a:xfrm>
            <a:off x="1518920" y="1610995"/>
            <a:ext cx="1054735" cy="137350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1 2 1 2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3 5 8 7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3909060" y="1205865"/>
            <a:ext cx="1054735" cy="8604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1 2 1 2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" name="Text Box 2"/>
          <p:cNvSpPr txBox="1"/>
          <p:nvPr>
            <p:custDataLst>
              <p:tags r:id="rId3"/>
            </p:custDataLst>
          </p:nvPr>
        </p:nvSpPr>
        <p:spPr>
          <a:xfrm>
            <a:off x="3909060" y="2452370"/>
            <a:ext cx="1054735" cy="11169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>
                <a:latin typeface="Menlo" panose="020B0609030804020204"/>
                <a:ea typeface="Menlo" panose="020B0609030804020204"/>
                <a:sym typeface="+mn-ea"/>
              </a:rPr>
              <a:t>3 5 8 7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4"/>
            </p:custDataLst>
          </p:nvPr>
        </p:nvCxnSpPr>
        <p:spPr>
          <a:xfrm>
            <a:off x="2569210" y="2450465"/>
            <a:ext cx="889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>
            <p:custDataLst>
              <p:tags r:id="rId5"/>
            </p:custDataLst>
          </p:nvPr>
        </p:nvCxnSpPr>
        <p:spPr>
          <a:xfrm flipV="1">
            <a:off x="3447415" y="1991360"/>
            <a:ext cx="329565" cy="461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>
            <p:custDataLst>
              <p:tags r:id="rId6"/>
            </p:custDataLst>
          </p:nvPr>
        </p:nvCxnSpPr>
        <p:spPr>
          <a:xfrm>
            <a:off x="3440430" y="2446020"/>
            <a:ext cx="400685" cy="57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>
            <p:custDataLst>
              <p:tags r:id="rId7"/>
            </p:custDataLst>
          </p:nvPr>
        </p:nvCxnSpPr>
        <p:spPr>
          <a:xfrm>
            <a:off x="4856480" y="1755775"/>
            <a:ext cx="7594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>
            <p:custDataLst>
              <p:tags r:id="rId8"/>
            </p:custDataLst>
          </p:nvPr>
        </p:nvSpPr>
        <p:spPr>
          <a:xfrm>
            <a:off x="5812155" y="1267460"/>
            <a:ext cx="753110" cy="2711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2000"/>
              </a:lnSpc>
            </a:pPr>
            <a:r>
              <a:rPr lang="en-US" altLang="zh-CN" sz="1200" b="1">
                <a:solidFill>
                  <a:srgbClr val="CCCCCC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  </a:t>
            </a:r>
            <a:r>
              <a:rPr lang="en-US" altLang="zh-CN" sz="1200" b="1">
                <a:solidFill>
                  <a:schemeClr val="tx1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  Error</a:t>
            </a:r>
            <a:endParaRPr lang="en-US" altLang="zh-CN" sz="1200" b="1">
              <a:solidFill>
                <a:schemeClr val="tx1"/>
              </a:solidFill>
              <a:latin typeface="Menlo Bold" panose="020B0609030804020204" charset="0"/>
              <a:ea typeface="Menlo" panose="020B0609030804020204"/>
              <a:cs typeface="Menlo Bold" panose="020B0609030804020204" charset="0"/>
            </a:endParaRPr>
          </a:p>
        </p:txBody>
      </p:sp>
      <p:sp>
        <p:nvSpPr>
          <p:cNvPr id="24" name="Text Box 23"/>
          <p:cNvSpPr txBox="1"/>
          <p:nvPr>
            <p:custDataLst>
              <p:tags r:id="rId9"/>
            </p:custDataLst>
          </p:nvPr>
        </p:nvSpPr>
        <p:spPr>
          <a:xfrm>
            <a:off x="5766435" y="2687320"/>
            <a:ext cx="1054735" cy="9461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x y 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3 6 8 9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cxnSp>
        <p:nvCxnSpPr>
          <p:cNvPr id="30" name="Straight Arrow Connector 29"/>
          <p:cNvCxnSpPr/>
          <p:nvPr>
            <p:custDataLst>
              <p:tags r:id="rId10"/>
            </p:custDataLst>
          </p:nvPr>
        </p:nvCxnSpPr>
        <p:spPr>
          <a:xfrm>
            <a:off x="4865370" y="3241040"/>
            <a:ext cx="7594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>
            <p:custDataLst>
              <p:tags r:id="rId11"/>
            </p:custDataLst>
          </p:nvPr>
        </p:nvSpPr>
        <p:spPr>
          <a:xfrm>
            <a:off x="955675" y="2435860"/>
            <a:ext cx="669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df  =</a:t>
            </a:r>
            <a:endParaRPr lang="en-US"/>
          </a:p>
        </p:txBody>
      </p:sp>
      <p:sp>
        <p:nvSpPr>
          <p:cNvPr id="36" name="Text Box 35"/>
          <p:cNvSpPr txBox="1"/>
          <p:nvPr>
            <p:custDataLst>
              <p:tags r:id="rId12"/>
            </p:custDataLst>
          </p:nvPr>
        </p:nvSpPr>
        <p:spPr>
          <a:xfrm>
            <a:off x="974725" y="3265170"/>
            <a:ext cx="213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/>
              <a:t>(idx  = pd.IndexSlice)</a:t>
            </a:r>
            <a:endParaRPr lang="en-US" sz="1600"/>
          </a:p>
        </p:txBody>
      </p:sp>
      <p:sp>
        <p:nvSpPr>
          <p:cNvPr id="37" name="Text Box 36"/>
          <p:cNvSpPr txBox="1"/>
          <p:nvPr>
            <p:custDataLst>
              <p:tags r:id="rId13"/>
            </p:custDataLst>
          </p:nvPr>
        </p:nvSpPr>
        <p:spPr>
          <a:xfrm>
            <a:off x="2451100" y="2124075"/>
            <a:ext cx="1442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df.loc[idx[[1,3],[6]]]</a:t>
            </a:r>
            <a:endParaRPr lang="en-US" sz="1000"/>
          </a:p>
        </p:txBody>
      </p:sp>
      <p:sp>
        <p:nvSpPr>
          <p:cNvPr id="38" name="Rectangles 37"/>
          <p:cNvSpPr/>
          <p:nvPr>
            <p:custDataLst>
              <p:tags r:id="rId14"/>
            </p:custDataLst>
          </p:nvPr>
        </p:nvSpPr>
        <p:spPr>
          <a:xfrm>
            <a:off x="3031490" y="2116455"/>
            <a:ext cx="29273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Text Box 38"/>
          <p:cNvSpPr txBox="1"/>
          <p:nvPr>
            <p:custDataLst>
              <p:tags r:id="rId15"/>
            </p:custDataLst>
          </p:nvPr>
        </p:nvSpPr>
        <p:spPr>
          <a:xfrm>
            <a:off x="4652645" y="2214880"/>
            <a:ext cx="1442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df.loc[idx[[1,3],[6]]]</a:t>
            </a:r>
            <a:endParaRPr lang="en-US" sz="1000"/>
          </a:p>
        </p:txBody>
      </p:sp>
      <p:sp>
        <p:nvSpPr>
          <p:cNvPr id="40" name="Rectangles 39"/>
          <p:cNvSpPr/>
          <p:nvPr>
            <p:custDataLst>
              <p:tags r:id="rId16"/>
            </p:custDataLst>
          </p:nvPr>
        </p:nvSpPr>
        <p:spPr>
          <a:xfrm>
            <a:off x="5497195" y="2207260"/>
            <a:ext cx="18859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>
            <p:custDataLst>
              <p:tags r:id="rId17"/>
            </p:custDataLst>
          </p:nvPr>
        </p:nvSpPr>
        <p:spPr>
          <a:xfrm>
            <a:off x="1590675" y="4301490"/>
            <a:ext cx="1725295" cy="16300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b 1 2 b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 3 5 d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3" name="Text Box 42"/>
          <p:cNvSpPr txBox="1"/>
          <p:nvPr>
            <p:custDataLst>
              <p:tags r:id="rId18"/>
            </p:custDataLst>
          </p:nvPr>
        </p:nvSpPr>
        <p:spPr>
          <a:xfrm>
            <a:off x="1043305" y="5309235"/>
            <a:ext cx="669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mf  =</a:t>
            </a:r>
            <a:endParaRPr lang="en-US"/>
          </a:p>
        </p:txBody>
      </p:sp>
      <p:cxnSp>
        <p:nvCxnSpPr>
          <p:cNvPr id="44" name="Straight Arrow Connector 43"/>
          <p:cNvCxnSpPr/>
          <p:nvPr>
            <p:custDataLst>
              <p:tags r:id="rId19"/>
            </p:custDataLst>
          </p:nvPr>
        </p:nvCxnSpPr>
        <p:spPr>
          <a:xfrm>
            <a:off x="2983230" y="5493385"/>
            <a:ext cx="1597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>
            <p:custDataLst>
              <p:tags r:id="rId20"/>
            </p:custDataLst>
          </p:nvPr>
        </p:nvSpPr>
        <p:spPr>
          <a:xfrm>
            <a:off x="3172460" y="520446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mf.mloc[[[1,3],[6]]]</a:t>
            </a:r>
            <a:endParaRPr lang="en-US" sz="1200"/>
          </a:p>
        </p:txBody>
      </p:sp>
      <p:sp>
        <p:nvSpPr>
          <p:cNvPr id="46" name="Text Box 45"/>
          <p:cNvSpPr txBox="1"/>
          <p:nvPr>
            <p:custDataLst>
              <p:tags r:id="rId21"/>
            </p:custDataLst>
          </p:nvPr>
        </p:nvSpPr>
        <p:spPr>
          <a:xfrm>
            <a:off x="4776470" y="4464685"/>
            <a:ext cx="1725295" cy="16300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b 1 2 a 1 2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>
                <a:latin typeface="Menlo" panose="020B0609030804020204"/>
                <a:ea typeface="Menlo" panose="020B0609030804020204"/>
                <a:sym typeface="+mn-ea"/>
              </a:rPr>
              <a:t>d 3 5 d 8 7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7" name="Text Box 46"/>
          <p:cNvSpPr txBox="1"/>
          <p:nvPr>
            <p:custDataLst>
              <p:tags r:id="rId22"/>
            </p:custDataLst>
          </p:nvPr>
        </p:nvSpPr>
        <p:spPr>
          <a:xfrm>
            <a:off x="6322060" y="5190490"/>
            <a:ext cx="1442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mf.mloc[[[1,3],[6]]]</a:t>
            </a:r>
            <a:endParaRPr lang="en-US" sz="1200"/>
          </a:p>
        </p:txBody>
      </p:sp>
      <p:cxnSp>
        <p:nvCxnSpPr>
          <p:cNvPr id="48" name="Straight Arrow Connector 47"/>
          <p:cNvCxnSpPr/>
          <p:nvPr>
            <p:custDataLst>
              <p:tags r:id="rId23"/>
            </p:custDataLst>
          </p:nvPr>
        </p:nvCxnSpPr>
        <p:spPr>
          <a:xfrm>
            <a:off x="6189980" y="5474335"/>
            <a:ext cx="1597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Text Box 48"/>
          <p:cNvSpPr txBox="1"/>
          <p:nvPr>
            <p:custDataLst>
              <p:tags r:id="rId24"/>
            </p:custDataLst>
          </p:nvPr>
        </p:nvSpPr>
        <p:spPr>
          <a:xfrm>
            <a:off x="7962265" y="4569460"/>
            <a:ext cx="1725295" cy="137350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...   ...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----- -----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 x y   c d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r>
              <a:rPr lang="en-US" altLang="zh-CN" sz="1200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c 3 6 c 8 9</a:t>
            </a: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2000"/>
              </a:lnSpc>
            </a:pPr>
            <a:endParaRPr lang="en-US" altLang="zh-CN" sz="1200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0" name="Rectangles 49"/>
          <p:cNvSpPr/>
          <p:nvPr>
            <p:custDataLst>
              <p:tags r:id="rId25"/>
            </p:custDataLst>
          </p:nvPr>
        </p:nvSpPr>
        <p:spPr>
          <a:xfrm>
            <a:off x="3851910" y="5196205"/>
            <a:ext cx="292735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Rectangles 50"/>
          <p:cNvSpPr/>
          <p:nvPr>
            <p:custDataLst>
              <p:tags r:id="rId26"/>
            </p:custDataLst>
          </p:nvPr>
        </p:nvSpPr>
        <p:spPr>
          <a:xfrm>
            <a:off x="7326630" y="5173345"/>
            <a:ext cx="189230" cy="27114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Text Box 51"/>
          <p:cNvSpPr txBox="1"/>
          <p:nvPr>
            <p:custDataLst>
              <p:tags r:id="rId27"/>
            </p:custDataLst>
          </p:nvPr>
        </p:nvSpPr>
        <p:spPr>
          <a:xfrm>
            <a:off x="237490" y="720725"/>
            <a:ext cx="1475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Example 2</a:t>
            </a:r>
            <a:endParaRPr lang="en-US"/>
          </a:p>
        </p:txBody>
      </p:sp>
      <p:sp>
        <p:nvSpPr>
          <p:cNvPr id="53" name="Text Box 52"/>
          <p:cNvSpPr txBox="1"/>
          <p:nvPr>
            <p:custDataLst>
              <p:tags r:id="rId28"/>
            </p:custDataLst>
          </p:nvPr>
        </p:nvSpPr>
        <p:spPr>
          <a:xfrm>
            <a:off x="348615" y="1370330"/>
            <a:ext cx="1475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i="1">
                <a:latin typeface="Calibri Italic" panose="020F0702030404030204" charset="0"/>
                <a:cs typeface="Calibri Italic" panose="020F0702030404030204" charset="0"/>
              </a:rPr>
              <a:t>Pandas</a:t>
            </a:r>
            <a:endParaRPr lang="en-US" sz="1600" i="1">
              <a:latin typeface="Calibri Italic" panose="020F0702030404030204" charset="0"/>
              <a:cs typeface="Calibri Italic" panose="020F0702030404030204" charset="0"/>
            </a:endParaRPr>
          </a:p>
        </p:txBody>
      </p:sp>
      <p:sp>
        <p:nvSpPr>
          <p:cNvPr id="54" name="Text Box 53"/>
          <p:cNvSpPr txBox="1"/>
          <p:nvPr>
            <p:custDataLst>
              <p:tags r:id="rId29"/>
            </p:custDataLst>
          </p:nvPr>
        </p:nvSpPr>
        <p:spPr>
          <a:xfrm>
            <a:off x="325120" y="3968115"/>
            <a:ext cx="17259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i="1">
                <a:latin typeface="Calibri Italic" panose="020F0702030404030204" charset="0"/>
                <a:cs typeface="Calibri Italic" panose="020F0702030404030204" charset="0"/>
              </a:rPr>
              <a:t>MulDataFrame</a:t>
            </a:r>
            <a:endParaRPr lang="en-US" sz="1600" i="1">
              <a:latin typeface="Calibri Italic" panose="020F0702030404030204" charset="0"/>
              <a:cs typeface="Calibri Italic" panose="020F0702030404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WPS Writer</Application>
  <PresentationFormat>宽屏</PresentationFormat>
  <Paragraphs>150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 Bold</vt:lpstr>
      <vt:lpstr>Menlo</vt:lpstr>
      <vt:lpstr>Calibri Italic</vt:lpstr>
      <vt:lpstr>Menlo Bold</vt:lpstr>
      <vt:lpstr>Calibri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qn</dc:creator>
  <cp:lastModifiedBy>Luke</cp:lastModifiedBy>
  <cp:revision>78</cp:revision>
  <dcterms:created xsi:type="dcterms:W3CDTF">2024-11-01T09:40:52Z</dcterms:created>
  <dcterms:modified xsi:type="dcterms:W3CDTF">2024-11-01T09:40:52Z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1033-6.8.0.8846</vt:lpwstr>
  </property>
  <property fmtid="{D5CDD505-2E9C-101B-9397-08002B2CF9AE}" pid="3" name="ICV">
    <vt:lpwstr>C97F5A0CC84411FFF0E8946603D9B350_41</vt:lpwstr>
  </property>
</Properties>
</file>